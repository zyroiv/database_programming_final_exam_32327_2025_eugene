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ln w="19050">
            <a:solidFill>
              <a:srgbClr val="C9A22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377440" y="4937760"/>
            <a:ext cx="4572000" cy="4572000"/>
          </a:xfrm>
          <a:prstGeom prst="ellipse">
            <a:avLst/>
          </a:prstGeom>
          <a:ln w="19050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DPR400210 — FINAL CAPSTONE EXAMINATION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Football Club Performance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Transfer Management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Oracle Database &amp; PL/SQL system for tracking club performance,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contracts, and transfer activity — with automated business rules,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auditing, and Power BI analytics.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Eugene  |  Student ID 32327/2025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349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Lay Adventists of Kigali — Faculty of Computing and Information Sciences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5623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Eric Maniraguha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0992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169164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417320" y="20116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gap this system addresses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6148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27432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30632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approach and project phases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81304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17320" y="37947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417320" y="41148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relationships, and normalization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86460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48463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51663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constraints, and sample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170992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69480" y="169164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Programming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269480" y="20116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procedures, packages, cursors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76148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269480" y="27432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Programming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69480" y="30632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Triggers, auditing, and security rules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81304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69480" y="37947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269480" y="41148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analytics dashboard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486460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69480" y="48463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69480" y="51663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achieves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DPR400210 — Football Club Performance &amp; Transfer Management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clubs generate large volumes of data — player performance, contracts, transfers, injuries, and match results — but this information is often scattered across spreadsheets with no centralized structure.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798064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7004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way to track contract expiry or transfer eligibility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36499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36976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for who changed critical records, or when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80390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enforced business rules around when transfers may be processed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498848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370832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analytics on player and club performance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78040" y="1371600"/>
            <a:ext cx="4343400" cy="4663440"/>
          </a:xfrm>
          <a:prstGeom prst="roundRect">
            <a:avLst>
              <a:gd name="adj" fmla="val 2526"/>
            </a:avLst>
          </a:prstGeom>
          <a:solidFill>
            <a:srgbClr val="F4F4F2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19202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administrators, coaches, and league analysts who need a single reliable source of truth for squad and transfer data.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0" y="2880360"/>
            <a:ext cx="3749040" cy="0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3063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3337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normalized Oracle database with PL/SQL logic, enforced business rules, auditing, and analytics for football club management.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4297680"/>
            <a:ext cx="3749040" cy="0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4480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4754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auditable records; enforced transfer eligibility; and live analytics that support squad decisions.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DPR400210 — Football Club Performance &amp; Transfer Management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8-phase build, moving from problem analysis to a fully auditable, analytics-ready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240155" cy="3017520"/>
          </a:xfrm>
          <a:prstGeom prst="roundRect">
            <a:avLst>
              <a:gd name="adj" fmla="val 5899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8989" y="237744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58989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926080"/>
            <a:ext cx="1020699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17395" y="2103120"/>
            <a:ext cx="1240155" cy="3017520"/>
          </a:xfrm>
          <a:prstGeom prst="roundRect">
            <a:avLst>
              <a:gd name="adj" fmla="val 5899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6304" y="237744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2436304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27123" y="2926080"/>
            <a:ext cx="1020699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Modeling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94710" y="2103120"/>
            <a:ext cx="1240155" cy="3017520"/>
          </a:xfrm>
          <a:prstGeom prst="roundRect">
            <a:avLst>
              <a:gd name="adj" fmla="val 5899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13619" y="237744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3813619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04438" y="2926080"/>
            <a:ext cx="1020699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Design (ERD, 3NF)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72025" y="2103120"/>
            <a:ext cx="1240155" cy="3017520"/>
          </a:xfrm>
          <a:prstGeom prst="roundRect">
            <a:avLst>
              <a:gd name="adj" fmla="val 5899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0935" y="237744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5190935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81753" y="2926080"/>
            <a:ext cx="1020699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49340" y="2103120"/>
            <a:ext cx="1240155" cy="3017520"/>
          </a:xfrm>
          <a:prstGeom prst="roundRect">
            <a:avLst>
              <a:gd name="adj" fmla="val 5899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68250" y="237744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6568250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59068" y="2926080"/>
            <a:ext cx="1020699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Constraints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526655" y="2103120"/>
            <a:ext cx="1240155" cy="3017520"/>
          </a:xfrm>
          <a:prstGeom prst="roundRect">
            <a:avLst>
              <a:gd name="adj" fmla="val 5899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45564" y="237744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7945564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636383" y="2926080"/>
            <a:ext cx="1020699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Programming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903970" y="2103120"/>
            <a:ext cx="1240155" cy="3017520"/>
          </a:xfrm>
          <a:prstGeom prst="roundRect">
            <a:avLst>
              <a:gd name="adj" fmla="val 5899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2879" y="237744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9322879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013698" y="2926080"/>
            <a:ext cx="1020699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&amp; Auditing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281285" y="2103120"/>
            <a:ext cx="1240155" cy="3017520"/>
          </a:xfrm>
          <a:prstGeom prst="roundRect">
            <a:avLst>
              <a:gd name="adj" fmla="val 5899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700194" y="237744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5" name="Text 33"/>
          <p:cNvSpPr/>
          <p:nvPr/>
        </p:nvSpPr>
        <p:spPr>
          <a:xfrm>
            <a:off x="10700194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391013" y="2926080"/>
            <a:ext cx="1020699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Presentation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DPR400210 — Football Club Performance &amp; Transfer Management System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entities, normalized to 3NF — non-key columns depend on the key, the whole key, and nothing but the key.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508760" y="2537460"/>
            <a:ext cx="2148840" cy="0"/>
          </a:xfrm>
          <a:prstGeom prst="line">
            <a:avLst/>
          </a:prstGeom>
          <a:noFill/>
          <a:ln w="15875">
            <a:solidFill>
              <a:srgbClr val="C7C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3657600" y="2537460"/>
            <a:ext cx="2148840" cy="-731520"/>
          </a:xfrm>
          <a:prstGeom prst="line">
            <a:avLst/>
          </a:prstGeom>
          <a:noFill/>
          <a:ln w="15875">
            <a:solidFill>
              <a:srgbClr val="C7CC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2537460"/>
            <a:ext cx="2148840" cy="731520"/>
          </a:xfrm>
          <a:prstGeom prst="line">
            <a:avLst/>
          </a:prstGeom>
          <a:noFill/>
          <a:ln w="15875">
            <a:solidFill>
              <a:srgbClr val="C7CC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6440" y="1805940"/>
            <a:ext cx="2148840" cy="0"/>
          </a:xfrm>
          <a:prstGeom prst="line">
            <a:avLst/>
          </a:prstGeom>
          <a:noFill/>
          <a:ln w="15875">
            <a:solidFill>
              <a:srgbClr val="C7CC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6440" y="3268980"/>
            <a:ext cx="2148840" cy="0"/>
          </a:xfrm>
          <a:prstGeom prst="line">
            <a:avLst/>
          </a:prstGeom>
          <a:noFill/>
          <a:ln w="15875">
            <a:solidFill>
              <a:srgbClr val="C7CC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1805940"/>
            <a:ext cx="0" cy="1463040"/>
          </a:xfrm>
          <a:prstGeom prst="line">
            <a:avLst/>
          </a:prstGeom>
          <a:noFill/>
          <a:ln w="15875">
            <a:solidFill>
              <a:srgbClr val="C7CC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0" y="3268980"/>
            <a:ext cx="2148840" cy="0"/>
          </a:xfrm>
          <a:prstGeom prst="line">
            <a:avLst/>
          </a:prstGeom>
          <a:noFill/>
          <a:ln w="15875">
            <a:solidFill>
              <a:srgbClr val="C7CC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537460"/>
            <a:ext cx="0" cy="2194560"/>
          </a:xfrm>
          <a:prstGeom prst="line">
            <a:avLst/>
          </a:prstGeom>
          <a:noFill/>
          <a:ln w="15875">
            <a:solidFill>
              <a:srgbClr val="C7CC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5806440" y="3268980"/>
            <a:ext cx="-2148840" cy="1463040"/>
          </a:xfrm>
          <a:prstGeom prst="line">
            <a:avLst/>
          </a:prstGeom>
          <a:noFill/>
          <a:ln w="15875">
            <a:solidFill>
              <a:srgbClr val="C7CC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2537460"/>
            <a:ext cx="2148840" cy="2194560"/>
          </a:xfrm>
          <a:prstGeom prst="line">
            <a:avLst/>
          </a:prstGeom>
          <a:noFill/>
          <a:ln w="15875">
            <a:solidFill>
              <a:srgbClr val="C7CC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268980"/>
            <a:ext cx="0" cy="1463040"/>
          </a:xfrm>
          <a:prstGeom prst="line">
            <a:avLst/>
          </a:prstGeom>
          <a:noFill/>
          <a:ln w="15875">
            <a:solidFill>
              <a:srgbClr val="C7CC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6440" y="3268980"/>
            <a:ext cx="2148840" cy="1463040"/>
          </a:xfrm>
          <a:prstGeom prst="line">
            <a:avLst/>
          </a:prstGeom>
          <a:noFill/>
          <a:ln w="15875">
            <a:solidFill>
              <a:srgbClr val="C7CC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14884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1488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STADIUMS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88920" y="214884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21488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141732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4173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37760" y="288036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8803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86600" y="141732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14173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86600" y="288036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28803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35440" y="288036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28803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88920" y="434340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43434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37760" y="434340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43434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86600" y="434340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43434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INJURIES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235440" y="141732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4F4F2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35440" y="14173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PUBLIC_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235440" y="434340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4F4F2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5440" y="43434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DPR400210 — Football Club Performance &amp; Transfer Management System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constraints, and sample data — realistic European club data across 12 tables.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2A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8288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37560" y="25603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8288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35040" y="25603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32520" y="16916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2A41"/>
          </a:solidFill>
          <a:ln/>
        </p:spPr>
      </p:sp>
      <p:sp>
        <p:nvSpPr>
          <p:cNvPr id="14" name="Text 12"/>
          <p:cNvSpPr/>
          <p:nvPr/>
        </p:nvSpPr>
        <p:spPr>
          <a:xfrm>
            <a:off x="8732520" y="18288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732520" y="25603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Types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ENFORCED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108960" y="37490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identity keys on every table (e.g. player_id)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108960" y="42976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relationships — e.g. players.club_id → clubs.club_id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108960" y="48463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validity — e.g. home_club_id &lt;&gt; away_club_id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394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/ NOT NULL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108960" y="53949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— e.g. one performance row per match+player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DPR400210 — Football Club Performance &amp; Transfer Management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PL/SQL Programming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required PL/SQL elements, each solving a real business need.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4F4F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fn_is_transfer_eligible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a player's contract has expired or is within 30 days of expiry.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4F4F2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192024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2423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proc_execute_transfer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0" y="315468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eligibility, records the transfer, updates the player's club — with custom exception handling.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4F4F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192024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2423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pkg_player_performance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315468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average rating, total goals, and top-scorer analytics into one reusable unit.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0" y="16916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4F4F2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0" y="192024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0" y="2423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/ rotation risk report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26880" y="315468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through every player, flagging missing match appearances and open injuries.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DPR400210 — Football Club Performance &amp; Transfer Management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Programming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Rule: block INSERT / UPDATE / DELETE on weekdays and public holidays.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10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trg_transfers_audit_security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trigger — TRANSFERS table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STATEMENT: enforce rule   |   AFTER EACH ROW: log to audit_log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810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trg_contracts_audit_security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2628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trigger — CONTRACTS table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2628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STATEMENT: enforce rule   |   AFTER EACH ROW: log to audit_log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8105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pkg_demo_control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2148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Session-level bypass for live demo — OFF by default, and every toggle is itself logged to audit_log.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290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on a weekday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3429000"/>
            <a:ext cx="320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880360" y="3429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290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ORA-20001 raised — blocked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429000"/>
            <a:ext cx="320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20640" y="3429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34290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demo bypass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3429000"/>
            <a:ext cx="320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60920" y="3429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34290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succeeds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81160" y="3429000"/>
            <a:ext cx="320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01200" y="3429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0" y="34290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confirms both events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7091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INSERT / UPDATE / DELETE on TRANSFERS and CONTRACTS is logged with the operation type, old and new values, the user, and the timestamp — a full audit trail regardless of demo mode.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DPR400210 — Football Club Performance &amp; Transfer Management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— Power BI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analytics connected directly to the Oracle database via the Oracle client connector.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321040" cy="5074920"/>
          </a:xfrm>
          <a:prstGeom prst="roundRect">
            <a:avLst>
              <a:gd name="adj" fmla="val 1081"/>
            </a:avLst>
          </a:prstGeom>
          <a:solidFill>
            <a:srgbClr val="F4F4F2"/>
          </a:solidFill>
          <a:ln w="12700">
            <a:solidFill>
              <a:srgbClr val="D8DBE0"/>
            </a:solidFill>
            <a:prstDash val="solid"/>
          </a:ln>
        </p:spPr>
      </p:sp>
      <p:pic>
        <p:nvPicPr>
          <p:cNvPr id="5" name="Image 0" descr="images/dashboard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7955280" cy="4416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98280" y="160020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4"/>
          <p:cNvSpPr/>
          <p:nvPr/>
        </p:nvSpPr>
        <p:spPr>
          <a:xfrm>
            <a:off x="9372600" y="1481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Scorers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372600" y="177393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by player, drawn from match_performance.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098280" y="265176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7"/>
          <p:cNvSpPr/>
          <p:nvPr/>
        </p:nvSpPr>
        <p:spPr>
          <a:xfrm>
            <a:off x="9372600" y="25328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Fees by Club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372600" y="282549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spend, sourced from the transfers table.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098280" y="370332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9372600" y="35844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Player Rating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372600" y="387705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card across all recorded matches.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098280" y="475488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3"/>
          <p:cNvSpPr/>
          <p:nvPr/>
        </p:nvSpPr>
        <p:spPr>
          <a:xfrm>
            <a:off x="9372600" y="46360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Scorer by Club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372600" y="492861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mirroring the logic in pkg_player_performance.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DPR400210 — Football Club Performance &amp; Transfer Management System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ln w="19050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normalized (3NF) Oracle schema across 12 tables with enforced PK/FK/CHECK/UNIQUE constraints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5915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12848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PL/SQL: an eligibility function, a transfer procedure, a performance package, and a fitness-risk cursor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45536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triggers blocking transfer/contract activity on weekdays and holidays, with an auditable demo bypass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224528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78224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audit trail of every INSERT, UPDATE, and DELETE on critical tables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5157216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010912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Power BI dashboard connected directly to the database for performance and transfer analytics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141732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1F3350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69164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full-cycle Oracle database engineering — from 3NF design through PL/SQL business logic, enforced security rules, complete auditing, and live analytics — built and defended end-to-end.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4206240"/>
            <a:ext cx="301752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Eugene — 32327/2025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DPR400210 — Football Club Performance &amp; Transfer Management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2026-07-14T23:49:03Z</dcterms:created>
  <dcterms:modified xsi:type="dcterms:W3CDTF">2026-07-14T23:49:03Z</dcterms:modified>
</cp:coreProperties>
</file>